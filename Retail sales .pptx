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58" r:id="rId5"/>
    <p:sldId id="259" r:id="rId6"/>
    <p:sldId id="260" r:id="rId7"/>
    <p:sldId id="266" r:id="rId8"/>
    <p:sldId id="272" r:id="rId9"/>
    <p:sldId id="262" r:id="rId10"/>
    <p:sldId id="263" r:id="rId11"/>
    <p:sldId id="271" r:id="rId12"/>
    <p:sldId id="273" r:id="rId13"/>
    <p:sldId id="267" r:id="rId14"/>
    <p:sldId id="268" r:id="rId15"/>
    <p:sldId id="269" r:id="rId16"/>
    <p:sldId id="270"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EF6B6D-B5CB-458E-A8EE-D15F7786BDB6}" v="32" dt="2026-05-14T09:06:23.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nikkas" userId="5c9c0c3dd30f5128" providerId="LiveId" clId="{B1EAA15B-D96D-4B88-AEBF-9C10A7F312A4}"/>
    <pc:docChg chg="custSel addSld delSld modSld sldOrd">
      <pc:chgData name="mohamed nikkas" userId="5c9c0c3dd30f5128" providerId="LiveId" clId="{B1EAA15B-D96D-4B88-AEBF-9C10A7F312A4}" dt="2026-05-15T05:21:14.542" v="2572" actId="20577"/>
      <pc:docMkLst>
        <pc:docMk/>
      </pc:docMkLst>
      <pc:sldChg chg="addSp modSp mod">
        <pc:chgData name="mohamed nikkas" userId="5c9c0c3dd30f5128" providerId="LiveId" clId="{B1EAA15B-D96D-4B88-AEBF-9C10A7F312A4}" dt="2026-05-14T13:30:57.845" v="2470" actId="1076"/>
        <pc:sldMkLst>
          <pc:docMk/>
          <pc:sldMk cId="2213986877" sldId="256"/>
        </pc:sldMkLst>
        <pc:spChg chg="mod">
          <ac:chgData name="mohamed nikkas" userId="5c9c0c3dd30f5128" providerId="LiveId" clId="{B1EAA15B-D96D-4B88-AEBF-9C10A7F312A4}" dt="2026-05-14T13:30:38.993" v="2469" actId="20577"/>
          <ac:spMkLst>
            <pc:docMk/>
            <pc:sldMk cId="2213986877" sldId="256"/>
            <ac:spMk id="2" creationId="{0F696CD7-F575-1134-90E9-2DF22277B00D}"/>
          </ac:spMkLst>
        </pc:spChg>
        <pc:spChg chg="mod">
          <ac:chgData name="mohamed nikkas" userId="5c9c0c3dd30f5128" providerId="LiveId" clId="{B1EAA15B-D96D-4B88-AEBF-9C10A7F312A4}" dt="2026-05-14T09:19:33.374" v="2372" actId="20577"/>
          <ac:spMkLst>
            <pc:docMk/>
            <pc:sldMk cId="2213986877" sldId="256"/>
            <ac:spMk id="3" creationId="{A8ED6E21-B9B5-83EB-48CC-AD476DD9E3BF}"/>
          </ac:spMkLst>
        </pc:spChg>
        <pc:picChg chg="add mod">
          <ac:chgData name="mohamed nikkas" userId="5c9c0c3dd30f5128" providerId="LiveId" clId="{B1EAA15B-D96D-4B88-AEBF-9C10A7F312A4}" dt="2026-05-14T13:30:57.845" v="2470" actId="1076"/>
          <ac:picMkLst>
            <pc:docMk/>
            <pc:sldMk cId="2213986877" sldId="256"/>
            <ac:picMk id="5" creationId="{AE48F9C6-E72D-F9B3-F1AC-DF6FAD538B03}"/>
          </ac:picMkLst>
        </pc:picChg>
      </pc:sldChg>
      <pc:sldChg chg="modSp mod">
        <pc:chgData name="mohamed nikkas" userId="5c9c0c3dd30f5128" providerId="LiveId" clId="{B1EAA15B-D96D-4B88-AEBF-9C10A7F312A4}" dt="2026-05-15T04:27:02.682" v="2524" actId="20577"/>
        <pc:sldMkLst>
          <pc:docMk/>
          <pc:sldMk cId="2995934596" sldId="257"/>
        </pc:sldMkLst>
        <pc:spChg chg="mod">
          <ac:chgData name="mohamed nikkas" userId="5c9c0c3dd30f5128" providerId="LiveId" clId="{B1EAA15B-D96D-4B88-AEBF-9C10A7F312A4}" dt="2026-05-15T04:27:02.682" v="2524" actId="20577"/>
          <ac:spMkLst>
            <pc:docMk/>
            <pc:sldMk cId="2995934596" sldId="257"/>
            <ac:spMk id="3" creationId="{C52C9A9A-CFFB-BDC7-CC9D-3A9AF3533648}"/>
          </ac:spMkLst>
        </pc:spChg>
      </pc:sldChg>
      <pc:sldChg chg="modSp mod">
        <pc:chgData name="mohamed nikkas" userId="5c9c0c3dd30f5128" providerId="LiveId" clId="{B1EAA15B-D96D-4B88-AEBF-9C10A7F312A4}" dt="2026-05-14T09:16:21.012" v="2350" actId="255"/>
        <pc:sldMkLst>
          <pc:docMk/>
          <pc:sldMk cId="3836772440" sldId="258"/>
        </pc:sldMkLst>
        <pc:spChg chg="mod">
          <ac:chgData name="mohamed nikkas" userId="5c9c0c3dd30f5128" providerId="LiveId" clId="{B1EAA15B-D96D-4B88-AEBF-9C10A7F312A4}" dt="2026-05-14T07:51:01.076" v="1379" actId="2711"/>
          <ac:spMkLst>
            <pc:docMk/>
            <pc:sldMk cId="3836772440" sldId="258"/>
            <ac:spMk id="2" creationId="{6C4E1FD8-D35C-C41B-5A2D-94B311D6B7B4}"/>
          </ac:spMkLst>
        </pc:spChg>
        <pc:spChg chg="mod">
          <ac:chgData name="mohamed nikkas" userId="5c9c0c3dd30f5128" providerId="LiveId" clId="{B1EAA15B-D96D-4B88-AEBF-9C10A7F312A4}" dt="2026-05-14T07:50:54.752" v="1378" actId="2711"/>
          <ac:spMkLst>
            <pc:docMk/>
            <pc:sldMk cId="3836772440" sldId="258"/>
            <ac:spMk id="3" creationId="{03EA3604-7475-38D3-6648-C42F5014EDA0}"/>
          </ac:spMkLst>
        </pc:spChg>
        <pc:spChg chg="mod">
          <ac:chgData name="mohamed nikkas" userId="5c9c0c3dd30f5128" providerId="LiveId" clId="{B1EAA15B-D96D-4B88-AEBF-9C10A7F312A4}" dt="2026-05-14T09:16:21.012" v="2350" actId="255"/>
          <ac:spMkLst>
            <pc:docMk/>
            <pc:sldMk cId="3836772440" sldId="258"/>
            <ac:spMk id="7" creationId="{0F141393-D549-EE8A-2AAA-9E7EE57493FF}"/>
          </ac:spMkLst>
        </pc:spChg>
      </pc:sldChg>
      <pc:sldChg chg="modSp mod">
        <pc:chgData name="mohamed nikkas" userId="5c9c0c3dd30f5128" providerId="LiveId" clId="{B1EAA15B-D96D-4B88-AEBF-9C10A7F312A4}" dt="2026-05-14T09:16:07.955" v="2349" actId="255"/>
        <pc:sldMkLst>
          <pc:docMk/>
          <pc:sldMk cId="3231790587" sldId="259"/>
        </pc:sldMkLst>
        <pc:spChg chg="mod">
          <ac:chgData name="mohamed nikkas" userId="5c9c0c3dd30f5128" providerId="LiveId" clId="{B1EAA15B-D96D-4B88-AEBF-9C10A7F312A4}" dt="2026-05-14T09:16:07.955" v="2349" actId="255"/>
          <ac:spMkLst>
            <pc:docMk/>
            <pc:sldMk cId="3231790587" sldId="259"/>
            <ac:spMk id="3" creationId="{FC9876BA-E311-32DC-ADA4-292BB7B7CBE7}"/>
          </ac:spMkLst>
        </pc:spChg>
      </pc:sldChg>
      <pc:sldChg chg="modSp mod">
        <pc:chgData name="mohamed nikkas" userId="5c9c0c3dd30f5128" providerId="LiveId" clId="{B1EAA15B-D96D-4B88-AEBF-9C10A7F312A4}" dt="2026-05-15T05:21:14.542" v="2572" actId="20577"/>
        <pc:sldMkLst>
          <pc:docMk/>
          <pc:sldMk cId="2570305926" sldId="260"/>
        </pc:sldMkLst>
        <pc:spChg chg="mod">
          <ac:chgData name="mohamed nikkas" userId="5c9c0c3dd30f5128" providerId="LiveId" clId="{B1EAA15B-D96D-4B88-AEBF-9C10A7F312A4}" dt="2026-05-15T05:21:14.542" v="2572" actId="20577"/>
          <ac:spMkLst>
            <pc:docMk/>
            <pc:sldMk cId="2570305926" sldId="260"/>
            <ac:spMk id="3" creationId="{4C351F81-6BE4-9C32-3D13-7222DC815369}"/>
          </ac:spMkLst>
        </pc:spChg>
      </pc:sldChg>
      <pc:sldChg chg="modSp mod ord">
        <pc:chgData name="mohamed nikkas" userId="5c9c0c3dd30f5128" providerId="LiveId" clId="{B1EAA15B-D96D-4B88-AEBF-9C10A7F312A4}" dt="2026-05-14T08:54:58.972" v="2081" actId="2711"/>
        <pc:sldMkLst>
          <pc:docMk/>
          <pc:sldMk cId="2038915799" sldId="262"/>
        </pc:sldMkLst>
        <pc:spChg chg="mod">
          <ac:chgData name="mohamed nikkas" userId="5c9c0c3dd30f5128" providerId="LiveId" clId="{B1EAA15B-D96D-4B88-AEBF-9C10A7F312A4}" dt="2026-05-14T08:54:58.972" v="2081" actId="2711"/>
          <ac:spMkLst>
            <pc:docMk/>
            <pc:sldMk cId="2038915799" sldId="262"/>
            <ac:spMk id="3" creationId="{67A75833-EEC8-DB43-80EB-772837A43466}"/>
          </ac:spMkLst>
        </pc:spChg>
      </pc:sldChg>
      <pc:sldChg chg="modSp mod">
        <pc:chgData name="mohamed nikkas" userId="5c9c0c3dd30f5128" providerId="LiveId" clId="{B1EAA15B-D96D-4B88-AEBF-9C10A7F312A4}" dt="2026-05-14T08:21:00.332" v="2008" actId="2711"/>
        <pc:sldMkLst>
          <pc:docMk/>
          <pc:sldMk cId="1124996060" sldId="263"/>
        </pc:sldMkLst>
        <pc:spChg chg="mod">
          <ac:chgData name="mohamed nikkas" userId="5c9c0c3dd30f5128" providerId="LiveId" clId="{B1EAA15B-D96D-4B88-AEBF-9C10A7F312A4}" dt="2026-05-14T08:21:00.332" v="2008" actId="2711"/>
          <ac:spMkLst>
            <pc:docMk/>
            <pc:sldMk cId="1124996060" sldId="263"/>
            <ac:spMk id="3" creationId="{B5C10675-F095-359E-6C4C-F72D45257C90}"/>
          </ac:spMkLst>
        </pc:spChg>
      </pc:sldChg>
      <pc:sldChg chg="modSp mod">
        <pc:chgData name="mohamed nikkas" userId="5c9c0c3dd30f5128" providerId="LiveId" clId="{B1EAA15B-D96D-4B88-AEBF-9C10A7F312A4}" dt="2026-05-14T09:15:16.278" v="2346" actId="2711"/>
        <pc:sldMkLst>
          <pc:docMk/>
          <pc:sldMk cId="1036776691" sldId="264"/>
        </pc:sldMkLst>
        <pc:spChg chg="mod">
          <ac:chgData name="mohamed nikkas" userId="5c9c0c3dd30f5128" providerId="LiveId" clId="{B1EAA15B-D96D-4B88-AEBF-9C10A7F312A4}" dt="2026-05-14T09:15:16.278" v="2346" actId="2711"/>
          <ac:spMkLst>
            <pc:docMk/>
            <pc:sldMk cId="1036776691" sldId="264"/>
            <ac:spMk id="3" creationId="{5AA8F137-945B-2066-AABD-271044C04A4A}"/>
          </ac:spMkLst>
        </pc:spChg>
      </pc:sldChg>
      <pc:sldChg chg="modSp mod">
        <pc:chgData name="mohamed nikkas" userId="5c9c0c3dd30f5128" providerId="LiveId" clId="{B1EAA15B-D96D-4B88-AEBF-9C10A7F312A4}" dt="2026-05-14T09:14:34.930" v="2323" actId="20577"/>
        <pc:sldMkLst>
          <pc:docMk/>
          <pc:sldMk cId="1557818110" sldId="265"/>
        </pc:sldMkLst>
        <pc:spChg chg="mod">
          <ac:chgData name="mohamed nikkas" userId="5c9c0c3dd30f5128" providerId="LiveId" clId="{B1EAA15B-D96D-4B88-AEBF-9C10A7F312A4}" dt="2026-05-14T09:14:34.930" v="2323" actId="20577"/>
          <ac:spMkLst>
            <pc:docMk/>
            <pc:sldMk cId="1557818110" sldId="265"/>
            <ac:spMk id="2" creationId="{DD357BE1-3DB5-B2CC-0EBE-3FCE7D650597}"/>
          </ac:spMkLst>
        </pc:spChg>
      </pc:sldChg>
      <pc:sldChg chg="addSp delSp modSp mod">
        <pc:chgData name="mohamed nikkas" userId="5c9c0c3dd30f5128" providerId="LiveId" clId="{B1EAA15B-D96D-4B88-AEBF-9C10A7F312A4}" dt="2026-05-14T09:25:07.711" v="2389" actId="2711"/>
        <pc:sldMkLst>
          <pc:docMk/>
          <pc:sldMk cId="4131927481" sldId="267"/>
        </pc:sldMkLst>
        <pc:spChg chg="add mod">
          <ac:chgData name="mohamed nikkas" userId="5c9c0c3dd30f5128" providerId="LiveId" clId="{B1EAA15B-D96D-4B88-AEBF-9C10A7F312A4}" dt="2026-05-14T09:25:07.711" v="2389" actId="2711"/>
          <ac:spMkLst>
            <pc:docMk/>
            <pc:sldMk cId="4131927481" sldId="267"/>
            <ac:spMk id="3" creationId="{5B39183A-2D32-5EED-B75E-A13914366D65}"/>
          </ac:spMkLst>
        </pc:spChg>
        <pc:picChg chg="del mod">
          <ac:chgData name="mohamed nikkas" userId="5c9c0c3dd30f5128" providerId="LiveId" clId="{B1EAA15B-D96D-4B88-AEBF-9C10A7F312A4}" dt="2026-05-14T08:57:06.636" v="2086" actId="21"/>
          <ac:picMkLst>
            <pc:docMk/>
            <pc:sldMk cId="4131927481" sldId="267"/>
            <ac:picMk id="9" creationId="{E9DDFA01-AE95-587E-D025-B28A8D29C858}"/>
          </ac:picMkLst>
        </pc:picChg>
        <pc:picChg chg="mod">
          <ac:chgData name="mohamed nikkas" userId="5c9c0c3dd30f5128" providerId="LiveId" clId="{B1EAA15B-D96D-4B88-AEBF-9C10A7F312A4}" dt="2026-05-14T09:24:15.879" v="2385" actId="14100"/>
          <ac:picMkLst>
            <pc:docMk/>
            <pc:sldMk cId="4131927481" sldId="267"/>
            <ac:picMk id="11" creationId="{FC714CCD-8947-6206-C02C-620756A45A2B}"/>
          </ac:picMkLst>
        </pc:picChg>
      </pc:sldChg>
      <pc:sldChg chg="modSp mod">
        <pc:chgData name="mohamed nikkas" userId="5c9c0c3dd30f5128" providerId="LiveId" clId="{B1EAA15B-D96D-4B88-AEBF-9C10A7F312A4}" dt="2026-05-14T09:22:56.201" v="2384" actId="1076"/>
        <pc:sldMkLst>
          <pc:docMk/>
          <pc:sldMk cId="4136695028" sldId="268"/>
        </pc:sldMkLst>
        <pc:picChg chg="mod">
          <ac:chgData name="mohamed nikkas" userId="5c9c0c3dd30f5128" providerId="LiveId" clId="{B1EAA15B-D96D-4B88-AEBF-9C10A7F312A4}" dt="2026-05-14T09:22:56.201" v="2384" actId="1076"/>
          <ac:picMkLst>
            <pc:docMk/>
            <pc:sldMk cId="4136695028" sldId="268"/>
            <ac:picMk id="3" creationId="{0625E778-0BE3-B553-6339-1E72E285564F}"/>
          </ac:picMkLst>
        </pc:picChg>
      </pc:sldChg>
      <pc:sldChg chg="modSp mod">
        <pc:chgData name="mohamed nikkas" userId="5c9c0c3dd30f5128" providerId="LiveId" clId="{B1EAA15B-D96D-4B88-AEBF-9C10A7F312A4}" dt="2026-05-14T09:15:27.015" v="2347" actId="2711"/>
        <pc:sldMkLst>
          <pc:docMk/>
          <pc:sldMk cId="782701807" sldId="269"/>
        </pc:sldMkLst>
        <pc:spChg chg="mod">
          <ac:chgData name="mohamed nikkas" userId="5c9c0c3dd30f5128" providerId="LiveId" clId="{B1EAA15B-D96D-4B88-AEBF-9C10A7F312A4}" dt="2026-05-14T09:15:27.015" v="2347" actId="2711"/>
          <ac:spMkLst>
            <pc:docMk/>
            <pc:sldMk cId="782701807" sldId="269"/>
            <ac:spMk id="2" creationId="{03707425-C30F-B76C-DBF5-AD70116058BB}"/>
          </ac:spMkLst>
        </pc:spChg>
      </pc:sldChg>
      <pc:sldChg chg="modSp mod">
        <pc:chgData name="mohamed nikkas" userId="5c9c0c3dd30f5128" providerId="LiveId" clId="{B1EAA15B-D96D-4B88-AEBF-9C10A7F312A4}" dt="2026-05-14T09:06:51.515" v="2194" actId="2711"/>
        <pc:sldMkLst>
          <pc:docMk/>
          <pc:sldMk cId="2011688953" sldId="270"/>
        </pc:sldMkLst>
        <pc:spChg chg="mod">
          <ac:chgData name="mohamed nikkas" userId="5c9c0c3dd30f5128" providerId="LiveId" clId="{B1EAA15B-D96D-4B88-AEBF-9C10A7F312A4}" dt="2026-05-14T09:06:51.515" v="2194" actId="2711"/>
          <ac:spMkLst>
            <pc:docMk/>
            <pc:sldMk cId="2011688953" sldId="270"/>
            <ac:spMk id="3" creationId="{F77DA2B2-A26B-7051-E485-25607398C007}"/>
          </ac:spMkLst>
        </pc:spChg>
      </pc:sldChg>
      <pc:sldChg chg="addSp modSp new mod">
        <pc:chgData name="mohamed nikkas" userId="5c9c0c3dd30f5128" providerId="LiveId" clId="{B1EAA15B-D96D-4B88-AEBF-9C10A7F312A4}" dt="2026-05-14T08:22:20.688" v="2068" actId="20577"/>
        <pc:sldMkLst>
          <pc:docMk/>
          <pc:sldMk cId="339687123" sldId="271"/>
        </pc:sldMkLst>
        <pc:spChg chg="add mod">
          <ac:chgData name="mohamed nikkas" userId="5c9c0c3dd30f5128" providerId="LiveId" clId="{B1EAA15B-D96D-4B88-AEBF-9C10A7F312A4}" dt="2026-05-14T08:21:08.738" v="2009" actId="2711"/>
          <ac:spMkLst>
            <pc:docMk/>
            <pc:sldMk cId="339687123" sldId="271"/>
            <ac:spMk id="3" creationId="{B0F7ED52-AA7A-122C-C125-5A889839EAE2}"/>
          </ac:spMkLst>
        </pc:spChg>
        <pc:spChg chg="add mod">
          <ac:chgData name="mohamed nikkas" userId="5c9c0c3dd30f5128" providerId="LiveId" clId="{B1EAA15B-D96D-4B88-AEBF-9C10A7F312A4}" dt="2026-05-14T08:22:20.688" v="2068" actId="20577"/>
          <ac:spMkLst>
            <pc:docMk/>
            <pc:sldMk cId="339687123" sldId="271"/>
            <ac:spMk id="4" creationId="{CD83DC67-BBF7-A7F1-BB43-931CE6A558B4}"/>
          </ac:spMkLst>
        </pc:spChg>
      </pc:sldChg>
      <pc:sldChg chg="addSp modSp new mod">
        <pc:chgData name="mohamed nikkas" userId="5c9c0c3dd30f5128" providerId="LiveId" clId="{B1EAA15B-D96D-4B88-AEBF-9C10A7F312A4}" dt="2026-05-14T08:53:49.081" v="2080" actId="14100"/>
        <pc:sldMkLst>
          <pc:docMk/>
          <pc:sldMk cId="803790384" sldId="272"/>
        </pc:sldMkLst>
        <pc:picChg chg="add mod">
          <ac:chgData name="mohamed nikkas" userId="5c9c0c3dd30f5128" providerId="LiveId" clId="{B1EAA15B-D96D-4B88-AEBF-9C10A7F312A4}" dt="2026-05-14T08:53:49.081" v="2080" actId="14100"/>
          <ac:picMkLst>
            <pc:docMk/>
            <pc:sldMk cId="803790384" sldId="272"/>
            <ac:picMk id="3" creationId="{43266A60-DED7-59AC-8BAF-7272706B4F0D}"/>
          </ac:picMkLst>
        </pc:picChg>
      </pc:sldChg>
      <pc:sldChg chg="addSp delSp modSp new mod">
        <pc:chgData name="mohamed nikkas" userId="5c9c0c3dd30f5128" providerId="LiveId" clId="{B1EAA15B-D96D-4B88-AEBF-9C10A7F312A4}" dt="2026-05-14T09:25:38.748" v="2392" actId="1076"/>
        <pc:sldMkLst>
          <pc:docMk/>
          <pc:sldMk cId="432175234" sldId="273"/>
        </pc:sldMkLst>
        <pc:spChg chg="add mod">
          <ac:chgData name="mohamed nikkas" userId="5c9c0c3dd30f5128" providerId="LiveId" clId="{B1EAA15B-D96D-4B88-AEBF-9C10A7F312A4}" dt="2026-05-14T09:25:38.748" v="2392" actId="1076"/>
          <ac:spMkLst>
            <pc:docMk/>
            <pc:sldMk cId="432175234" sldId="273"/>
            <ac:spMk id="7" creationId="{BE494F91-DA76-7398-CB02-AFDF82A6C4FF}"/>
          </ac:spMkLst>
        </pc:spChg>
        <pc:picChg chg="add del mod">
          <ac:chgData name="mohamed nikkas" userId="5c9c0c3dd30f5128" providerId="LiveId" clId="{B1EAA15B-D96D-4B88-AEBF-9C10A7F312A4}" dt="2026-05-14T08:56:41.787" v="2084" actId="21"/>
          <ac:picMkLst>
            <pc:docMk/>
            <pc:sldMk cId="432175234" sldId="273"/>
            <ac:picMk id="3" creationId="{82F59186-944F-F43E-7FE0-9ADEFFCAA188}"/>
          </ac:picMkLst>
        </pc:picChg>
        <pc:picChg chg="add mod">
          <ac:chgData name="mohamed nikkas" userId="5c9c0c3dd30f5128" providerId="LiveId" clId="{B1EAA15B-D96D-4B88-AEBF-9C10A7F312A4}" dt="2026-05-14T09:25:32.899" v="2390" actId="14100"/>
          <ac:picMkLst>
            <pc:docMk/>
            <pc:sldMk cId="432175234" sldId="273"/>
            <ac:picMk id="5" creationId="{C35F5E52-690F-92D8-BB16-17689F899E3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43A5-0308-BA2B-28FD-D48F18C576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8E57153E-4F85-DFCA-8973-AAF89AEDEC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812DDED0-369D-169C-62B5-B98C41DAE414}"/>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5" name="Footer Placeholder 4">
            <a:extLst>
              <a:ext uri="{FF2B5EF4-FFF2-40B4-BE49-F238E27FC236}">
                <a16:creationId xmlns:a16="http://schemas.microsoft.com/office/drawing/2014/main" id="{F2D04C3A-8050-5F62-D87E-4643F2CD2F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98BC3B-4FE4-8F83-A561-5B19B27C729E}"/>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3970403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0E8B-8722-0DAB-ACD7-16604DAB1549}"/>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124C0B62-8091-4DF6-D1E2-71E96962391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A00C8F6-F400-3A65-4C41-F8ED49550E65}"/>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5" name="Footer Placeholder 4">
            <a:extLst>
              <a:ext uri="{FF2B5EF4-FFF2-40B4-BE49-F238E27FC236}">
                <a16:creationId xmlns:a16="http://schemas.microsoft.com/office/drawing/2014/main" id="{2D16D02B-FE0A-F79E-4697-A3C1507EA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B0097D-AAD6-303D-CA8E-F4EC10A3A6EE}"/>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319184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B450E-7E21-62D9-7B2E-E0532FCA96A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501646FD-B491-EDCB-3826-7A6B449F55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14F5CEC-C653-C5F2-42D5-410C43BE3EE6}"/>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5" name="Footer Placeholder 4">
            <a:extLst>
              <a:ext uri="{FF2B5EF4-FFF2-40B4-BE49-F238E27FC236}">
                <a16:creationId xmlns:a16="http://schemas.microsoft.com/office/drawing/2014/main" id="{0DF43F13-8C54-3D27-4AE6-FAEB5D3A39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0F4F45-58C7-FFE9-0701-E690AEA6A828}"/>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3959604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9900C-F8A9-B2B2-13EE-318286F9E06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A5B09C84-10C8-51F8-52C1-2AA91C7ABFF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7667B9DA-714B-FEBB-0E3B-FF768F04AA1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804224FE-3784-409E-CC00-BF9277112677}"/>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6" name="Footer Placeholder 5">
            <a:extLst>
              <a:ext uri="{FF2B5EF4-FFF2-40B4-BE49-F238E27FC236}">
                <a16:creationId xmlns:a16="http://schemas.microsoft.com/office/drawing/2014/main" id="{FAB5F4DD-F20E-E47E-93FA-F6DCAAC5D0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3C2CC7-18EA-90C8-4557-820FA5116F19}"/>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138471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319A-DDDB-F873-E032-8CCA10B4A83E}"/>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9F77E61-D1F3-BCF5-31C7-B8D1A7797F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4BDDEE6-508C-8A28-AED9-1C3F906E666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CF4FCBE-7B9F-2357-681C-1B938602CF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347ACD7-3314-B7DB-F228-B85F1ACF21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74EA3BBA-A67C-67FB-D821-4B4D94C71037}"/>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8" name="Footer Placeholder 7">
            <a:extLst>
              <a:ext uri="{FF2B5EF4-FFF2-40B4-BE49-F238E27FC236}">
                <a16:creationId xmlns:a16="http://schemas.microsoft.com/office/drawing/2014/main" id="{61888D6C-FD15-81D5-2F21-3838F4E62E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9ECE52-C5D4-1CCB-10B5-0E844F1C8488}"/>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2832258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5BD72-3A19-A208-854D-DEB3C62671C5}"/>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685E40A-4DB0-A3CF-DAA3-4C8D92A85CFC}"/>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4" name="Footer Placeholder 3">
            <a:extLst>
              <a:ext uri="{FF2B5EF4-FFF2-40B4-BE49-F238E27FC236}">
                <a16:creationId xmlns:a16="http://schemas.microsoft.com/office/drawing/2014/main" id="{6D678E1A-3B32-FB93-A578-A57C45249B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341CA8-A8D5-AA0F-18D0-D1E37D41C244}"/>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3023030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BEA354-6EF4-1640-D377-3A6C0DABDA34}"/>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3" name="Footer Placeholder 2">
            <a:extLst>
              <a:ext uri="{FF2B5EF4-FFF2-40B4-BE49-F238E27FC236}">
                <a16:creationId xmlns:a16="http://schemas.microsoft.com/office/drawing/2014/main" id="{6592972A-EC62-8004-5D31-0204C4E5E6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8D8DE6-5691-9951-67B3-75B68912DA15}"/>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77468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8E61-40E7-714F-D02F-CE21BC0D8A1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5ACC9BEC-65A6-20F4-FE4C-ADBF893657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D3E6C2F6-6777-1DBB-5C21-96BFFB8C09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45B7465-4D0B-C123-FA27-A00313747E9C}"/>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6" name="Footer Placeholder 5">
            <a:extLst>
              <a:ext uri="{FF2B5EF4-FFF2-40B4-BE49-F238E27FC236}">
                <a16:creationId xmlns:a16="http://schemas.microsoft.com/office/drawing/2014/main" id="{364E13DC-550D-FE19-4310-FE9DB625C8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E3FF7B-533B-757F-F7E5-15773FF7C11B}"/>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1734272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85454-4859-44B0-54AF-C8C7DE87BCA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F6EB2EB8-C031-8A99-BCED-5B8D8F1BD8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9DCAED8-FE5F-8CC4-0504-5ED14979D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A0F9F8C-FFD0-A7A7-3D16-CECA4DC929D2}"/>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6" name="Footer Placeholder 5">
            <a:extLst>
              <a:ext uri="{FF2B5EF4-FFF2-40B4-BE49-F238E27FC236}">
                <a16:creationId xmlns:a16="http://schemas.microsoft.com/office/drawing/2014/main" id="{D0A3755E-3E31-EF6B-75BA-BB5E11316A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CF2ECC-2A22-ECDD-E154-DF3474C73D1C}"/>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4288591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EB23E-802B-0CD3-3991-82DF7571906B}"/>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9789249B-585F-3385-521A-7C7ED33892A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502DECD5-F133-A909-4B75-4A81CD00A3CF}"/>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5" name="Footer Placeholder 4">
            <a:extLst>
              <a:ext uri="{FF2B5EF4-FFF2-40B4-BE49-F238E27FC236}">
                <a16:creationId xmlns:a16="http://schemas.microsoft.com/office/drawing/2014/main" id="{1A2AE824-0C33-3500-FB0D-1BF54F6DB2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703597-B878-D001-8D16-8B31479C6EBE}"/>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1345351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83AB57-1970-DB6F-3B5B-C5910F0E62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B4CD8C0D-1836-B3E2-1F27-798573F2188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383285B-73F8-407B-57F3-796AA035B8BA}"/>
              </a:ext>
            </a:extLst>
          </p:cNvPr>
          <p:cNvSpPr>
            <a:spLocks noGrp="1"/>
          </p:cNvSpPr>
          <p:nvPr>
            <p:ph type="dt" sz="half" idx="10"/>
          </p:nvPr>
        </p:nvSpPr>
        <p:spPr/>
        <p:txBody>
          <a:bodyPr/>
          <a:lstStyle/>
          <a:p>
            <a:fld id="{5ECD9C1B-918D-4C6B-B97A-2096A018F734}" type="datetimeFigureOut">
              <a:rPr lang="en-IN" smtClean="0"/>
              <a:t>15-05-2026</a:t>
            </a:fld>
            <a:endParaRPr lang="en-IN"/>
          </a:p>
        </p:txBody>
      </p:sp>
      <p:sp>
        <p:nvSpPr>
          <p:cNvPr id="5" name="Footer Placeholder 4">
            <a:extLst>
              <a:ext uri="{FF2B5EF4-FFF2-40B4-BE49-F238E27FC236}">
                <a16:creationId xmlns:a16="http://schemas.microsoft.com/office/drawing/2014/main" id="{9DF77635-9D00-78CD-8093-AE6AB27DDF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62E3EB-07A4-4A1E-00C4-0AF6BF42B3A8}"/>
              </a:ext>
            </a:extLst>
          </p:cNvPr>
          <p:cNvSpPr>
            <a:spLocks noGrp="1"/>
          </p:cNvSpPr>
          <p:nvPr>
            <p:ph type="sldNum" sz="quarter" idx="12"/>
          </p:nvPr>
        </p:nvSpPr>
        <p:spPr/>
        <p:txBody>
          <a:bodyPr/>
          <a:lstStyle/>
          <a:p>
            <a:fld id="{4CE9BA9F-1C78-405E-8CCF-934D1D439BE3}" type="slidenum">
              <a:rPr lang="en-IN" smtClean="0"/>
              <a:t>‹#›</a:t>
            </a:fld>
            <a:endParaRPr lang="en-IN"/>
          </a:p>
        </p:txBody>
      </p:sp>
    </p:spTree>
    <p:extLst>
      <p:ext uri="{BB962C8B-B14F-4D97-AF65-F5344CB8AC3E}">
        <p14:creationId xmlns:p14="http://schemas.microsoft.com/office/powerpoint/2010/main" val="123251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B9A852-AEF0-3E3F-88D2-D45D0B3FBF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5E07FA35-072C-1E85-2717-5BB18EF06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DF93F11-2DFC-6F57-F1FB-D4F8D6A9C0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CD9C1B-918D-4C6B-B97A-2096A018F734}" type="datetimeFigureOut">
              <a:rPr lang="en-IN" smtClean="0"/>
              <a:t>15-05-2026</a:t>
            </a:fld>
            <a:endParaRPr lang="en-IN"/>
          </a:p>
        </p:txBody>
      </p:sp>
      <p:sp>
        <p:nvSpPr>
          <p:cNvPr id="5" name="Footer Placeholder 4">
            <a:extLst>
              <a:ext uri="{FF2B5EF4-FFF2-40B4-BE49-F238E27FC236}">
                <a16:creationId xmlns:a16="http://schemas.microsoft.com/office/drawing/2014/main" id="{F02587B3-8840-AA28-C014-A2AF76EF12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42C6DED-4FBB-5B6C-01EA-E5C1A11D0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E9BA9F-1C78-405E-8CCF-934D1D439BE3}" type="slidenum">
              <a:rPr lang="en-IN" smtClean="0"/>
              <a:t>‹#›</a:t>
            </a:fld>
            <a:endParaRPr lang="en-IN"/>
          </a:p>
        </p:txBody>
      </p:sp>
    </p:spTree>
    <p:extLst>
      <p:ext uri="{BB962C8B-B14F-4D97-AF65-F5344CB8AC3E}">
        <p14:creationId xmlns:p14="http://schemas.microsoft.com/office/powerpoint/2010/main" val="3208150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96CD7-F575-1134-90E9-2DF22277B00D}"/>
              </a:ext>
            </a:extLst>
          </p:cNvPr>
          <p:cNvSpPr>
            <a:spLocks noGrp="1"/>
          </p:cNvSpPr>
          <p:nvPr>
            <p:ph type="ctrTitle"/>
          </p:nvPr>
        </p:nvSpPr>
        <p:spPr>
          <a:xfrm>
            <a:off x="1654557" y="807970"/>
            <a:ext cx="8741465" cy="2387600"/>
          </a:xfrm>
        </p:spPr>
        <p:txBody>
          <a:bodyPr>
            <a:normAutofit fontScale="90000"/>
          </a:bodyPr>
          <a:lstStyle/>
          <a:p>
            <a:r>
              <a:rPr lang="en-US" sz="4000" dirty="0">
                <a:latin typeface="Times New Roman" panose="02020603050405020304" pitchFamily="18" charset="0"/>
                <a:cs typeface="Times New Roman" panose="02020603050405020304" pitchFamily="18" charset="0"/>
              </a:rPr>
              <a:t>Annai college of engineering and technology</a:t>
            </a: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cs typeface="Times New Roman" panose="02020603050405020304" pitchFamily="18" charset="0"/>
              </a:rPr>
              <a:t>Department of computer science and engineering</a:t>
            </a:r>
            <a:br>
              <a:rPr lang="en-US" sz="33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RETAIL SALES FORECASTING TO ENHANCE BUSINESS</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8ED6E21-B9B5-83EB-48CC-AD476DD9E3BF}"/>
              </a:ext>
            </a:extLst>
          </p:cNvPr>
          <p:cNvSpPr>
            <a:spLocks noGrp="1"/>
          </p:cNvSpPr>
          <p:nvPr>
            <p:ph type="subTitle" idx="1"/>
          </p:nvPr>
        </p:nvSpPr>
        <p:spPr>
          <a:xfrm>
            <a:off x="198782" y="3602037"/>
            <a:ext cx="11827565" cy="2978425"/>
          </a:xfrm>
        </p:spPr>
        <p:txBody>
          <a:bodyPr>
            <a:normAutofit/>
          </a:bodyPr>
          <a:lstStyle/>
          <a:p>
            <a:pPr algn="l"/>
            <a:r>
              <a:rPr lang="en-US" b="1" dirty="0">
                <a:latin typeface="Times New Roman" panose="02020603050405020304" pitchFamily="18" charset="0"/>
                <a:cs typeface="Times New Roman" panose="02020603050405020304" pitchFamily="18" charset="0"/>
              </a:rPr>
              <a:t>PRESENTED BY : </a:t>
            </a:r>
            <a:r>
              <a:rPr lang="en-US" dirty="0">
                <a:latin typeface="Times New Roman" panose="02020603050405020304" pitchFamily="18" charset="0"/>
                <a:cs typeface="Times New Roman" panose="02020603050405020304" pitchFamily="18" charset="0"/>
              </a:rPr>
              <a:t>MOHAMED NIKKAS J                        </a:t>
            </a:r>
            <a:r>
              <a:rPr lang="en-US" b="1" dirty="0">
                <a:latin typeface="Times New Roman" panose="02020603050405020304" pitchFamily="18" charset="0"/>
                <a:cs typeface="Times New Roman" panose="02020603050405020304" pitchFamily="18" charset="0"/>
              </a:rPr>
              <a:t>UNDER THE GUIDANCE OF</a:t>
            </a:r>
          </a:p>
          <a:p>
            <a:pPr algn="l"/>
            <a:r>
              <a:rPr lang="en-US" dirty="0">
                <a:latin typeface="Times New Roman" panose="02020603050405020304" pitchFamily="18" charset="0"/>
                <a:cs typeface="Times New Roman" panose="02020603050405020304" pitchFamily="18" charset="0"/>
              </a:rPr>
              <a:t>                                  MOHAMED RASITH M                                </a:t>
            </a:r>
            <a:r>
              <a:rPr lang="en-US" dirty="0" err="1">
                <a:latin typeface="Times New Roman" panose="02020603050405020304" pitchFamily="18" charset="0"/>
                <a:cs typeface="Times New Roman" panose="02020603050405020304" pitchFamily="18" charset="0"/>
              </a:rPr>
              <a:t>Ms.S.JAYASRI.M.E</a:t>
            </a:r>
            <a:r>
              <a:rPr lang="en-US" dirty="0">
                <a:latin typeface="Times New Roman" panose="02020603050405020304" pitchFamily="18" charset="0"/>
                <a:cs typeface="Times New Roman" panose="02020603050405020304" pitchFamily="18" charset="0"/>
              </a:rPr>
              <a:t>.,</a:t>
            </a:r>
          </a:p>
          <a:p>
            <a:pPr algn="l"/>
            <a:endParaRPr lang="en-US" dirty="0">
              <a:latin typeface="Times New Roman" panose="02020603050405020304" pitchFamily="18" charset="0"/>
              <a:cs typeface="Times New Roman" panose="02020603050405020304" pitchFamily="18" charset="0"/>
            </a:endParaRPr>
          </a:p>
          <a:p>
            <a:pPr algn="l"/>
            <a:r>
              <a:rPr lang="en-US" b="1" dirty="0">
                <a:latin typeface="Times New Roman" panose="02020603050405020304" pitchFamily="18" charset="0"/>
                <a:cs typeface="Times New Roman" panose="02020603050405020304" pitchFamily="18" charset="0"/>
              </a:rPr>
              <a:t>COURSE</a:t>
            </a:r>
            <a:r>
              <a:rPr lang="en-US" dirty="0">
                <a:latin typeface="Times New Roman" panose="02020603050405020304" pitchFamily="18" charset="0"/>
                <a:cs typeface="Times New Roman" panose="02020603050405020304" pitchFamily="18" charset="0"/>
              </a:rPr>
              <a:t>: BE. Computer Science and Engineering</a:t>
            </a:r>
          </a:p>
          <a:p>
            <a:pPr algn="l"/>
            <a:r>
              <a:rPr lang="en-US" b="1" dirty="0">
                <a:latin typeface="Times New Roman" panose="02020603050405020304" pitchFamily="18" charset="0"/>
                <a:cs typeface="Times New Roman" panose="02020603050405020304" pitchFamily="18" charset="0"/>
              </a:rPr>
              <a:t>COLLEGE NAME</a:t>
            </a:r>
            <a:r>
              <a:rPr lang="en-US" dirty="0">
                <a:latin typeface="Times New Roman" panose="02020603050405020304" pitchFamily="18" charset="0"/>
                <a:cs typeface="Times New Roman" panose="02020603050405020304" pitchFamily="18" charset="0"/>
              </a:rPr>
              <a:t>: Annai College of Engineering and technology</a:t>
            </a:r>
          </a:p>
          <a:p>
            <a:pPr algn="l"/>
            <a:r>
              <a:rPr lang="en-US" b="1" dirty="0">
                <a:latin typeface="Times New Roman" panose="02020603050405020304" pitchFamily="18" charset="0"/>
                <a:cs typeface="Times New Roman" panose="02020603050405020304" pitchFamily="18" charset="0"/>
              </a:rPr>
              <a:t>BATCH: </a:t>
            </a:r>
            <a:r>
              <a:rPr lang="en-US" dirty="0">
                <a:latin typeface="Times New Roman" panose="02020603050405020304" pitchFamily="18" charset="0"/>
                <a:cs typeface="Times New Roman" panose="02020603050405020304" pitchFamily="18" charset="0"/>
              </a:rPr>
              <a:t>2022-2026</a:t>
            </a:r>
          </a:p>
          <a:p>
            <a:endParaRPr lang="en-IN" dirty="0"/>
          </a:p>
        </p:txBody>
      </p:sp>
      <p:pic>
        <p:nvPicPr>
          <p:cNvPr id="5" name="Picture 4">
            <a:extLst>
              <a:ext uri="{FF2B5EF4-FFF2-40B4-BE49-F238E27FC236}">
                <a16:creationId xmlns:a16="http://schemas.microsoft.com/office/drawing/2014/main" id="{AE48F9C6-E72D-F9B3-F1AC-DF6FAD538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5596" y="0"/>
            <a:ext cx="1560751" cy="1302026"/>
          </a:xfrm>
          <a:prstGeom prst="rect">
            <a:avLst/>
          </a:prstGeom>
        </p:spPr>
      </p:pic>
    </p:spTree>
    <p:extLst>
      <p:ext uri="{BB962C8B-B14F-4D97-AF65-F5344CB8AC3E}">
        <p14:creationId xmlns:p14="http://schemas.microsoft.com/office/powerpoint/2010/main" val="221398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2C9A9A-CFFB-BDC7-CC9D-3A9AF3533648}"/>
              </a:ext>
            </a:extLst>
          </p:cNvPr>
          <p:cNvSpPr txBox="1"/>
          <p:nvPr/>
        </p:nvSpPr>
        <p:spPr>
          <a:xfrm>
            <a:off x="89452" y="695739"/>
            <a:ext cx="11976652" cy="4462760"/>
          </a:xfrm>
          <a:prstGeom prst="rect">
            <a:avLst/>
          </a:prstGeom>
          <a:noFill/>
        </p:spPr>
        <p:txBody>
          <a:bodyPr wrap="square">
            <a:spAutoFit/>
          </a:bodyPr>
          <a:lstStyle/>
          <a:p>
            <a:pPr algn="ctr"/>
            <a:r>
              <a:rPr lang="en-US" sz="2800" b="1" dirty="0"/>
              <a:t> </a:t>
            </a:r>
            <a:r>
              <a:rPr lang="en-US" sz="2800" b="1" dirty="0">
                <a:latin typeface="Times New Roman" panose="02020603050405020304" pitchFamily="18" charset="0"/>
                <a:cs typeface="Times New Roman" panose="02020603050405020304" pitchFamily="18" charset="0"/>
              </a:rPr>
              <a:t>A</a:t>
            </a:r>
            <a:r>
              <a:rPr lang="en-IN" sz="2800" b="1" dirty="0">
                <a:latin typeface="Times New Roman" panose="02020603050405020304" pitchFamily="18" charset="0"/>
                <a:cs typeface="Times New Roman" panose="02020603050405020304" pitchFamily="18" charset="0"/>
              </a:rPr>
              <a:t>BSTRACT</a:t>
            </a:r>
          </a:p>
          <a:p>
            <a:endParaRPr lang="en-IN" sz="2800" b="1" dirty="0"/>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Retail businesses need accurate sales forecasting to manage inventory and improve profits.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uses Machine Learning algorithms to predict future retail sales effectively.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analyzes historical sales data as product category, sales trends, city, and seasonal demand.</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Random forest </a:t>
            </a:r>
            <a:r>
              <a:rPr lang="en-US" sz="2000" dirty="0">
                <a:latin typeface="Times New Roman" panose="02020603050405020304" pitchFamily="18" charset="0"/>
                <a:cs typeface="Times New Roman" panose="02020603050405020304" pitchFamily="18" charset="0"/>
              </a:rPr>
              <a:t>regressor algorithm is used to identify patterns and forecast future sales values.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prediction results help businesses reduce losses, improve planning, and make better strategic decisions</a:t>
            </a:r>
            <a:endParaRPr lang="en-IN" sz="2000" dirty="0">
              <a:latin typeface="Times New Roman" panose="02020603050405020304" pitchFamily="18" charset="0"/>
              <a:cs typeface="Times New Roman" panose="02020603050405020304" pitchFamily="18" charset="0"/>
            </a:endParaRPr>
          </a:p>
          <a:p>
            <a:endParaRPr lang="en-IN" sz="2000" b="1" dirty="0"/>
          </a:p>
          <a:p>
            <a:pPr marL="457200" indent="-457200">
              <a:buFont typeface="Arial" panose="020B0604020202020204" pitchFamily="34" charset="0"/>
              <a:buChar char="•"/>
            </a:pPr>
            <a:endParaRPr lang="en-IN" sz="2800" b="1" dirty="0"/>
          </a:p>
        </p:txBody>
      </p:sp>
    </p:spTree>
    <p:extLst>
      <p:ext uri="{BB962C8B-B14F-4D97-AF65-F5344CB8AC3E}">
        <p14:creationId xmlns:p14="http://schemas.microsoft.com/office/powerpoint/2010/main" val="2995934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357BE1-3DB5-B2CC-0EBE-3FCE7D650597}"/>
              </a:ext>
            </a:extLst>
          </p:cNvPr>
          <p:cNvSpPr>
            <a:spLocks noChangeArrowheads="1"/>
          </p:cNvSpPr>
          <p:nvPr/>
        </p:nvSpPr>
        <p:spPr bwMode="auto">
          <a:xfrm>
            <a:off x="231913" y="668070"/>
            <a:ext cx="1172817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INTODUCTION</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focuses on predicting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Units Sold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retail environment using machine learning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tachnique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uses features like time (Year, Quarter), product category, location (State, City), and transaction type to understand customer demand patterns.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build a model that can forecast future demand, helping businesses improve inventory management and make better data-driven decisions.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planning marketing strategies during peak demand periods like festivals or seasonal changes.</a:t>
            </a:r>
          </a:p>
          <a:p>
            <a:pPr marL="342900" lvl="0" indent="-342900" eaLnBrk="0" fontAlgn="base" hangingPunct="0">
              <a:spcBef>
                <a:spcPct val="0"/>
              </a:spcBef>
              <a:spcAft>
                <a:spcPct val="0"/>
              </a:spcAft>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7818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141393-D549-EE8A-2AAA-9E7EE57493FF}"/>
              </a:ext>
            </a:extLst>
          </p:cNvPr>
          <p:cNvSpPr txBox="1"/>
          <p:nvPr/>
        </p:nvSpPr>
        <p:spPr>
          <a:xfrm>
            <a:off x="102705" y="0"/>
            <a:ext cx="11986590" cy="4124206"/>
          </a:xfrm>
          <a:prstGeom prst="rect">
            <a:avLst/>
          </a:prstGeom>
          <a:noFill/>
        </p:spPr>
        <p:txBody>
          <a:bodyPr wrap="square">
            <a:spAutoFit/>
          </a:bodyPr>
          <a:lstStyle/>
          <a:p>
            <a:r>
              <a:rPr lang="en-IN" dirty="0"/>
              <a:t>                                                                                                 </a:t>
            </a:r>
            <a:r>
              <a:rPr lang="en-US" sz="2800" b="1" dirty="0">
                <a:latin typeface="Times New Roman" panose="02020603050405020304" pitchFamily="18" charset="0"/>
                <a:cs typeface="Times New Roman" panose="02020603050405020304" pitchFamily="18" charset="0"/>
              </a:rPr>
              <a:t>EXISTING SYSTEM</a:t>
            </a:r>
            <a:endParaRPr lang="en-IN"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sales prediction is done manually or using simple statistical methods.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These methods often produce less accurate results.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requires more human effort and time and </a:t>
            </a:r>
            <a:r>
              <a:rPr lang="en-IN" dirty="0">
                <a:latin typeface="Times New Roman" panose="02020603050405020304" pitchFamily="18" charset="0"/>
                <a:cs typeface="Times New Roman" panose="02020603050405020304" pitchFamily="18" charset="0"/>
              </a:rPr>
              <a:t>Difficult to handle large datasets.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Cannot easily capture complex relationships between features.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capability for real-time prediction and analysis.</a:t>
            </a:r>
          </a:p>
          <a:p>
            <a:pPr marL="285750" indent="-285750">
              <a:buFont typeface="Arial" panose="020B0604020202020204" pitchFamily="34" charset="0"/>
              <a:buChar char="•"/>
            </a:pPr>
            <a:endParaRPr lang="en-IN" dirty="0"/>
          </a:p>
          <a:p>
            <a:r>
              <a:rPr lang="en-IN" b="1" dirty="0">
                <a:latin typeface="Times New Roman" panose="02020603050405020304" pitchFamily="18" charset="0"/>
                <a:cs typeface="Times New Roman" panose="02020603050405020304" pitchFamily="18" charset="0"/>
              </a:rPr>
              <a:t>ADVANTAGE :</a:t>
            </a:r>
          </a:p>
          <a:p>
            <a:pPr marL="285750" indent="-285750">
              <a:buFont typeface="Arial" panose="020B0604020202020204" pitchFamily="34" charset="0"/>
              <a:buChar char="•"/>
            </a:pPr>
            <a:endParaRPr lang="en-IN" b="1" dirty="0"/>
          </a:p>
        </p:txBody>
      </p:sp>
      <p:sp>
        <p:nvSpPr>
          <p:cNvPr id="2" name="Rectangle 1">
            <a:extLst>
              <a:ext uri="{FF2B5EF4-FFF2-40B4-BE49-F238E27FC236}">
                <a16:creationId xmlns:a16="http://schemas.microsoft.com/office/drawing/2014/main" id="{6C4E1FD8-D35C-C41B-5A2D-94B311D6B7B4}"/>
              </a:ext>
            </a:extLst>
          </p:cNvPr>
          <p:cNvSpPr>
            <a:spLocks noChangeArrowheads="1"/>
          </p:cNvSpPr>
          <p:nvPr/>
        </p:nvSpPr>
        <p:spPr bwMode="auto">
          <a:xfrm>
            <a:off x="102705" y="3764846"/>
            <a:ext cx="408316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and easy to understand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minimal technical knowledge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implementation cost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Works well for small datasets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DISADVANTAGE :</a:t>
            </a:r>
          </a:p>
          <a:p>
            <a:pPr marR="0" lvl="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03EA3604-7475-38D3-6648-C42F5014EDA0}"/>
              </a:ext>
            </a:extLst>
          </p:cNvPr>
          <p:cNvSpPr>
            <a:spLocks noChangeArrowheads="1"/>
          </p:cNvSpPr>
          <p:nvPr/>
        </p:nvSpPr>
        <p:spPr bwMode="auto">
          <a:xfrm>
            <a:off x="102705" y="5469476"/>
            <a:ext cx="55835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capture complex relationships between features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and requires manual effort </a:t>
            </a:r>
          </a:p>
          <a:p>
            <a:pPr marL="28575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Difficult to handle large datasets.</a:t>
            </a:r>
          </a:p>
          <a:p>
            <a:pPr marL="285750" indent="-285750" eaLnBrk="0" fontAlgn="base" hangingPunct="0">
              <a:spcBef>
                <a:spcPct val="0"/>
              </a:spcBef>
              <a:spcAft>
                <a:spcPct val="0"/>
              </a:spcAf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Lower prediction accuracy.</a:t>
            </a:r>
            <a:endParaRPr lang="en-US" altLang="en-US"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677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9876BA-E311-32DC-ADA4-292BB7B7CBE7}"/>
              </a:ext>
            </a:extLst>
          </p:cNvPr>
          <p:cNvSpPr txBox="1"/>
          <p:nvPr/>
        </p:nvSpPr>
        <p:spPr>
          <a:xfrm>
            <a:off x="97734" y="102868"/>
            <a:ext cx="11996531" cy="6647974"/>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PROPOSED SYSTEM</a:t>
            </a:r>
            <a:endParaRPr lang="en-IN" sz="28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system uses Machine Learning techniques for retail sales forecasting.</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analyzes historical sales data such as category, city, season, and sales trends.</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algorithm is used to predict future sales accurately.</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reduces manual effort and improves forecasting efficiency.</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Visualizes results using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dashboard.</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ADVANTAGE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Higher prediction accuracy compared to traditional methods.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Reduces manual work and saves time.</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Supports data-driven business decision-making.</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Handles large amounts of retail data efficiently</a:t>
            </a:r>
            <a:endParaRPr lang="en-US" b="1"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DISADVANTAGE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Needs computational resources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Requires good quality data</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Internet or software-related issues may affect system performance.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Prediction accuracy may decrease with incorrect or incomplete data.</a:t>
            </a:r>
            <a:endParaRPr lang="en-US" b="1" dirty="0">
              <a:latin typeface="Times New Roman" panose="02020603050405020304" pitchFamily="18" charset="0"/>
              <a:cs typeface="Times New Roman" panose="02020603050405020304" pitchFamily="18" charset="0"/>
            </a:endParaRPr>
          </a:p>
          <a:p>
            <a:r>
              <a:rPr lang="en-IN" dirty="0"/>
              <a:t> </a:t>
            </a:r>
          </a:p>
        </p:txBody>
      </p:sp>
      <p:sp>
        <p:nvSpPr>
          <p:cNvPr id="5" name="Rectangle 4">
            <a:extLst>
              <a:ext uri="{FF2B5EF4-FFF2-40B4-BE49-F238E27FC236}">
                <a16:creationId xmlns:a16="http://schemas.microsoft.com/office/drawing/2014/main" id="{6BC6D34C-643D-0EE0-D2B1-3FACFFD19C87}"/>
              </a:ext>
            </a:extLst>
          </p:cNvPr>
          <p:cNvSpPr>
            <a:spLocks noChangeArrowheads="1"/>
          </p:cNvSpPr>
          <p:nvPr/>
        </p:nvSpPr>
        <p:spPr bwMode="auto">
          <a:xfrm>
            <a:off x="8388626" y="32443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6" name="Rectangle 5">
            <a:extLst>
              <a:ext uri="{FF2B5EF4-FFF2-40B4-BE49-F238E27FC236}">
                <a16:creationId xmlns:a16="http://schemas.microsoft.com/office/drawing/2014/main" id="{314F7FF1-3E7F-66C7-FA80-A11520F42498}"/>
              </a:ext>
            </a:extLst>
          </p:cNvPr>
          <p:cNvSpPr>
            <a:spLocks noChangeArrowheads="1"/>
          </p:cNvSpPr>
          <p:nvPr/>
        </p:nvSpPr>
        <p:spPr bwMode="auto">
          <a:xfrm>
            <a:off x="0" y="-58120"/>
            <a:ext cx="51683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7" name="Rectangle 6">
            <a:extLst>
              <a:ext uri="{FF2B5EF4-FFF2-40B4-BE49-F238E27FC236}">
                <a16:creationId xmlns:a16="http://schemas.microsoft.com/office/drawing/2014/main" id="{CCDFB351-E7FA-42EA-91E0-D6289C92A787}"/>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Rectangle 7">
            <a:extLst>
              <a:ext uri="{FF2B5EF4-FFF2-40B4-BE49-F238E27FC236}">
                <a16:creationId xmlns:a16="http://schemas.microsoft.com/office/drawing/2014/main" id="{A392300D-E027-138F-FBCE-C8797BE962E1}"/>
              </a:ext>
            </a:extLst>
          </p:cNvPr>
          <p:cNvSpPr>
            <a:spLocks noChangeArrowheads="1"/>
          </p:cNvSpPr>
          <p:nvPr/>
        </p:nvSpPr>
        <p:spPr bwMode="auto">
          <a:xfrm>
            <a:off x="152400" y="-322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231790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351F81-6BE4-9C32-3D13-7222DC815369}"/>
              </a:ext>
            </a:extLst>
          </p:cNvPr>
          <p:cNvSpPr txBox="1"/>
          <p:nvPr/>
        </p:nvSpPr>
        <p:spPr>
          <a:xfrm>
            <a:off x="97734" y="397401"/>
            <a:ext cx="11996531" cy="6063198"/>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SYSTEM REQUIREMENTS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Processor:     Intel i3 or above</a:t>
            </a:r>
          </a:p>
          <a:p>
            <a:r>
              <a:rPr lang="en-IN" dirty="0">
                <a:latin typeface="Times New Roman" panose="02020603050405020304" pitchFamily="18" charset="0"/>
                <a:cs typeface="Times New Roman" panose="02020603050405020304" pitchFamily="18" charset="0"/>
              </a:rPr>
              <a:t>RAM:            4GB or above</a:t>
            </a:r>
          </a:p>
          <a:p>
            <a:r>
              <a:rPr lang="en-IN" dirty="0">
                <a:latin typeface="Times New Roman" panose="02020603050405020304" pitchFamily="18" charset="0"/>
                <a:cs typeface="Times New Roman" panose="02020603050405020304" pitchFamily="18" charset="0"/>
              </a:rPr>
              <a:t>Storage:        10GB free space</a:t>
            </a:r>
          </a:p>
          <a:p>
            <a:r>
              <a:rPr lang="en-IN" dirty="0">
                <a:latin typeface="Times New Roman" panose="02020603050405020304" pitchFamily="18" charset="0"/>
                <a:cs typeface="Times New Roman" panose="02020603050405020304" pitchFamily="18" charset="0"/>
              </a:rPr>
              <a:t>Network</a:t>
            </a:r>
            <a:r>
              <a:rPr lang="en-IN">
                <a:latin typeface="Times New Roman" panose="02020603050405020304" pitchFamily="18" charset="0"/>
                <a:cs typeface="Times New Roman" panose="02020603050405020304" pitchFamily="18" charset="0"/>
              </a:rPr>
              <a:t>:       stable </a:t>
            </a:r>
            <a:r>
              <a:rPr lang="en-IN" dirty="0">
                <a:latin typeface="Times New Roman" panose="02020603050405020304" pitchFamily="18" charset="0"/>
                <a:cs typeface="Times New Roman" panose="02020603050405020304" pitchFamily="18" charset="0"/>
              </a:rPr>
              <a:t>network connection</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Software Requirements:</a:t>
            </a:r>
          </a:p>
          <a:p>
            <a:r>
              <a:rPr lang="en-IN" dirty="0">
                <a:latin typeface="Times New Roman" panose="02020603050405020304" pitchFamily="18" charset="0"/>
                <a:cs typeface="Times New Roman" panose="02020603050405020304" pitchFamily="18" charset="0"/>
              </a:rPr>
              <a:t>                        Python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a:t>
            </a:r>
          </a:p>
          <a:p>
            <a:r>
              <a:rPr lang="en-IN" dirty="0">
                <a:latin typeface="Times New Roman" panose="02020603050405020304" pitchFamily="18" charset="0"/>
                <a:cs typeface="Times New Roman" panose="02020603050405020304" pitchFamily="18" charset="0"/>
              </a:rPr>
              <a:t>                        Visual studio code</a:t>
            </a:r>
          </a:p>
          <a:p>
            <a:r>
              <a:rPr lang="en-IN" dirty="0">
                <a:latin typeface="Times New Roman" panose="02020603050405020304" pitchFamily="18" charset="0"/>
                <a:cs typeface="Times New Roman" panose="02020603050405020304" pitchFamily="18" charset="0"/>
              </a:rPr>
              <a:t>                        Google </a:t>
            </a:r>
            <a:r>
              <a:rPr lang="en-IN" dirty="0" err="1">
                <a:latin typeface="Times New Roman" panose="02020603050405020304" pitchFamily="18" charset="0"/>
                <a:cs typeface="Times New Roman" panose="02020603050405020304" pitchFamily="18" charset="0"/>
              </a:rPr>
              <a:t>Colab</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Libraries:</a:t>
            </a:r>
          </a:p>
          <a:p>
            <a:r>
              <a:rPr lang="en-IN" dirty="0">
                <a:latin typeface="Times New Roman" panose="02020603050405020304" pitchFamily="18" charset="0"/>
                <a:cs typeface="Times New Roman" panose="02020603050405020304" pitchFamily="18" charset="0"/>
              </a:rPr>
              <a:t>                        Pandas</a:t>
            </a:r>
          </a:p>
          <a:p>
            <a:r>
              <a:rPr lang="en-IN" dirty="0">
                <a:latin typeface="Times New Roman" panose="02020603050405020304" pitchFamily="18" charset="0"/>
                <a:cs typeface="Times New Roman" panose="02020603050405020304" pitchFamily="18" charset="0"/>
              </a:rPr>
              <a:t>                        NumPy</a:t>
            </a:r>
          </a:p>
          <a:p>
            <a:r>
              <a:rPr lang="en-IN" dirty="0">
                <a:latin typeface="Times New Roman" panose="02020603050405020304" pitchFamily="18" charset="0"/>
                <a:cs typeface="Times New Roman" panose="02020603050405020304" pitchFamily="18" charset="0"/>
              </a:rPr>
              <a:t>                        Scikit-learn</a:t>
            </a:r>
          </a:p>
          <a:p>
            <a:r>
              <a:rPr lang="en-IN" dirty="0">
                <a:latin typeface="Times New Roman" panose="02020603050405020304" pitchFamily="18" charset="0"/>
                <a:cs typeface="Times New Roman" panose="02020603050405020304" pitchFamily="18" charset="0"/>
              </a:rPr>
              <a:t>                        Matplotlib</a:t>
            </a:r>
          </a:p>
          <a:p>
            <a:r>
              <a:rPr lang="en-IN" dirty="0">
                <a:latin typeface="Times New Roman" panose="02020603050405020304" pitchFamily="18" charset="0"/>
                <a:cs typeface="Times New Roman" panose="02020603050405020304" pitchFamily="18" charset="0"/>
              </a:rPr>
              <a:t>                        Seaborn</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030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C67F33-6B0A-CCEB-068E-70FECFAF0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0669" y="0"/>
            <a:ext cx="4572000" cy="6858000"/>
          </a:xfrm>
          <a:prstGeom prst="rect">
            <a:avLst/>
          </a:prstGeom>
        </p:spPr>
      </p:pic>
    </p:spTree>
    <p:extLst>
      <p:ext uri="{BB962C8B-B14F-4D97-AF65-F5344CB8AC3E}">
        <p14:creationId xmlns:p14="http://schemas.microsoft.com/office/powerpoint/2010/main" val="851684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266A60-DED7-59AC-8BAF-7272706B4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5409" y="64604"/>
            <a:ext cx="4393095" cy="6728791"/>
          </a:xfrm>
          <a:prstGeom prst="rect">
            <a:avLst/>
          </a:prstGeom>
        </p:spPr>
      </p:pic>
    </p:spTree>
    <p:extLst>
      <p:ext uri="{BB962C8B-B14F-4D97-AF65-F5344CB8AC3E}">
        <p14:creationId xmlns:p14="http://schemas.microsoft.com/office/powerpoint/2010/main" val="803790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A75833-EEC8-DB43-80EB-772837A43466}"/>
              </a:ext>
            </a:extLst>
          </p:cNvPr>
          <p:cNvSpPr txBox="1"/>
          <p:nvPr/>
        </p:nvSpPr>
        <p:spPr>
          <a:xfrm>
            <a:off x="112643" y="471039"/>
            <a:ext cx="11966713" cy="6217087"/>
          </a:xfrm>
          <a:prstGeom prst="rect">
            <a:avLst/>
          </a:prstGeom>
          <a:noFill/>
        </p:spPr>
        <p:txBody>
          <a:bodyPr wrap="square">
            <a:spAutoFit/>
          </a:bodyPr>
          <a:lstStyle/>
          <a:p>
            <a:r>
              <a:rPr lang="en-IN" sz="2800" b="1" dirty="0"/>
              <a:t>                                                          </a:t>
            </a:r>
            <a:r>
              <a:rPr lang="en-IN" sz="2800" b="1" dirty="0">
                <a:latin typeface="Times New Roman" panose="02020603050405020304" pitchFamily="18" charset="0"/>
                <a:cs typeface="Times New Roman" panose="02020603050405020304" pitchFamily="18" charset="0"/>
              </a:rPr>
              <a:t> LITERATURE SURVEY</a:t>
            </a:r>
          </a:p>
          <a:p>
            <a:endParaRPr lang="en-IN"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Patel and Kumar (2025)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Used advanced algorithms for sales forecasting on large retail datasets. Their study showed good performance but lacked proper feature engineering and real-time implementation.</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Singh and Rao (2025)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Developed a retail forecasting model using time-based features like month and quarter. The study improved trend analysis but did not include location-based factors.</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Machine Learning (The Baseline): Studies from 2024–2025 frequently cite </a:t>
            </a: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and Random Forest as the industry gold standard for structured data. Recent papers (e.g., </a:t>
            </a:r>
            <a:r>
              <a:rPr lang="en-US" altLang="en-US" dirty="0" err="1">
                <a:latin typeface="Times New Roman" panose="02020603050405020304" pitchFamily="18" charset="0"/>
                <a:cs typeface="Times New Roman" panose="02020603050405020304" pitchFamily="18" charset="0"/>
              </a:rPr>
              <a:t>Venkiteela</a:t>
            </a:r>
            <a:r>
              <a:rPr lang="en-US" altLang="en-US" i="1" dirty="0">
                <a:latin typeface="Times New Roman" panose="02020603050405020304" pitchFamily="18" charset="0"/>
                <a:cs typeface="Times New Roman" panose="02020603050405020304" pitchFamily="18" charset="0"/>
              </a:rPr>
              <a:t>, 2025</a:t>
            </a:r>
            <a:r>
              <a:rPr lang="en-US" altLang="en-US" dirty="0">
                <a:latin typeface="Times New Roman" panose="02020603050405020304" pitchFamily="18" charset="0"/>
                <a:cs typeface="Times New Roman" panose="02020603050405020304" pitchFamily="18" charset="0"/>
              </a:rPr>
              <a:t>) show </a:t>
            </a: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achieving R2 scores of 0.87 in multi-city retail environments due to its ability to handle feature interactions.</a:t>
            </a:r>
          </a:p>
          <a:p>
            <a:pPr marL="342900" indent="-34290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Previous studies show that Random Forest and other ensemble models provide better accuracy for sales prediction. However, limitations exist in feature engineering and visualization. This project overcomes these issues by using optimized features and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dashboard for real-time predictions.</a:t>
            </a:r>
            <a:endParaRPr lang="en-US" alt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dirty="0">
              <a:latin typeface="Arial" panose="020B0604020202020204" pitchFamily="34" charset="0"/>
            </a:endParaRPr>
          </a:p>
          <a:p>
            <a:pPr marL="342900" indent="-342900">
              <a:buFont typeface="Arial" panose="020B0604020202020204" pitchFamily="34" charset="0"/>
              <a:buChar char="•"/>
            </a:pPr>
            <a:endParaRPr lang="en-US" altLang="en-US" dirty="0">
              <a:latin typeface="Arial" panose="020B0604020202020204" pitchFamily="34" charset="0"/>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038915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C10675-F095-359E-6C4C-F72D45257C90}"/>
              </a:ext>
            </a:extLst>
          </p:cNvPr>
          <p:cNvSpPr txBox="1"/>
          <p:nvPr/>
        </p:nvSpPr>
        <p:spPr>
          <a:xfrm>
            <a:off x="311426" y="0"/>
            <a:ext cx="11569148" cy="6617196"/>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MODULES EXPLANATION</a:t>
            </a:r>
          </a:p>
          <a:p>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 Data Collection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Import the retail sales dataset from CSV files or databases.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historical sales data such as year, city, category, season, and sales amount.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 the dataset contains sufficient records for accurate forecasting.</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Data Preprocessing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 missing values in the dataset.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 duplicate records to improve data quality.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 data types into proper formats for analysis.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Clean unwanted or inconsistent data values.</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Feature Engineering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Encode categorical features such as State, City, and Category.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 important features that influence sales prediction.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Transform data into a suitable format for Machine Learning models.</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Model Training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Split the dataset into training and testing datasets (</a:t>
            </a:r>
            <a:r>
              <a:rPr lang="en-US" dirty="0" err="1">
                <a:latin typeface="Times New Roman" panose="02020603050405020304" pitchFamily="18" charset="0"/>
                <a:cs typeface="Times New Roman" panose="02020603050405020304" pitchFamily="18" charset="0"/>
              </a:rPr>
              <a:t>X_train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X_test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y_train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y_test</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 Machine Learning models such as Linear Regression.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 the model to learn patterns from historical sales data.</a:t>
            </a:r>
          </a:p>
          <a:p>
            <a:endParaRPr lang="en-IN" dirty="0"/>
          </a:p>
        </p:txBody>
      </p:sp>
    </p:spTree>
    <p:extLst>
      <p:ext uri="{BB962C8B-B14F-4D97-AF65-F5344CB8AC3E}">
        <p14:creationId xmlns:p14="http://schemas.microsoft.com/office/powerpoint/2010/main" val="112499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F7ED52-AA7A-122C-C125-5A889839EAE2}"/>
              </a:ext>
            </a:extLst>
          </p:cNvPr>
          <p:cNvSpPr txBox="1"/>
          <p:nvPr/>
        </p:nvSpPr>
        <p:spPr>
          <a:xfrm>
            <a:off x="298173" y="218661"/>
            <a:ext cx="11618843" cy="563231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5. Model Evaluation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Evaluate model performance using metrics such as R² Score and RMSE.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 actual sales values with predicted sales values.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Measure the accuracy and efficiency of the forecasting model.</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Prediction Module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 future retail sales for upcoming years.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sales forecasting results based on input data.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 businesses plan inventory and sales strategies effectively.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7. Visualization Module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 sales trends and prediction results using graphs and charts.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dashboards for better understanding of sales analysis.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visual insights for business decision-making.</a:t>
            </a:r>
          </a:p>
          <a:p>
            <a:endParaRPr lang="en-US" dirty="0"/>
          </a:p>
          <a:p>
            <a:endParaRPr lang="en-US" dirty="0"/>
          </a:p>
          <a:p>
            <a:endParaRPr lang="en-US" dirty="0"/>
          </a:p>
          <a:p>
            <a:endParaRPr lang="en-US" b="1" dirty="0"/>
          </a:p>
          <a:p>
            <a:endParaRPr lang="en-US" b="1" dirty="0"/>
          </a:p>
          <a:p>
            <a:endParaRPr lang="en-US" dirty="0"/>
          </a:p>
        </p:txBody>
      </p:sp>
      <p:sp>
        <p:nvSpPr>
          <p:cNvPr id="4" name="Rectangle 1">
            <a:extLst>
              <a:ext uri="{FF2B5EF4-FFF2-40B4-BE49-F238E27FC236}">
                <a16:creationId xmlns:a16="http://schemas.microsoft.com/office/drawing/2014/main" id="{CD83DC67-BBF7-A7F1-BB43-931CE6A558B4}"/>
              </a:ext>
            </a:extLst>
          </p:cNvPr>
          <p:cNvSpPr>
            <a:spLocks noChangeArrowheads="1"/>
          </p:cNvSpPr>
          <p:nvPr/>
        </p:nvSpPr>
        <p:spPr bwMode="auto">
          <a:xfrm>
            <a:off x="0" y="-184667"/>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39687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5F5E52-690F-92D8-BB16-17689F899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930" y="579120"/>
            <a:ext cx="11479696" cy="5959162"/>
          </a:xfrm>
          <a:prstGeom prst="rect">
            <a:avLst/>
          </a:prstGeom>
        </p:spPr>
      </p:pic>
      <p:sp>
        <p:nvSpPr>
          <p:cNvPr id="7" name="TextBox 6">
            <a:extLst>
              <a:ext uri="{FF2B5EF4-FFF2-40B4-BE49-F238E27FC236}">
                <a16:creationId xmlns:a16="http://schemas.microsoft.com/office/drawing/2014/main" id="{BE494F91-DA76-7398-CB02-AFDF82A6C4FF}"/>
              </a:ext>
            </a:extLst>
          </p:cNvPr>
          <p:cNvSpPr txBox="1"/>
          <p:nvPr/>
        </p:nvSpPr>
        <p:spPr>
          <a:xfrm>
            <a:off x="337930" y="135052"/>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Output with visuals</a:t>
            </a:r>
          </a:p>
        </p:txBody>
      </p:sp>
    </p:spTree>
    <p:extLst>
      <p:ext uri="{BB962C8B-B14F-4D97-AF65-F5344CB8AC3E}">
        <p14:creationId xmlns:p14="http://schemas.microsoft.com/office/powerpoint/2010/main" val="432175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C714CCD-8947-6206-C02C-620756A45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991" y="822960"/>
            <a:ext cx="11549270" cy="5687169"/>
          </a:xfrm>
          <a:prstGeom prst="rect">
            <a:avLst/>
          </a:prstGeom>
        </p:spPr>
      </p:pic>
      <p:sp>
        <p:nvSpPr>
          <p:cNvPr id="3" name="TextBox 2">
            <a:extLst>
              <a:ext uri="{FF2B5EF4-FFF2-40B4-BE49-F238E27FC236}">
                <a16:creationId xmlns:a16="http://schemas.microsoft.com/office/drawing/2014/main" id="{5B39183A-2D32-5EED-B75E-A13914366D65}"/>
              </a:ext>
            </a:extLst>
          </p:cNvPr>
          <p:cNvSpPr txBox="1"/>
          <p:nvPr/>
        </p:nvSpPr>
        <p:spPr>
          <a:xfrm>
            <a:off x="233680" y="257294"/>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Output with visuals</a:t>
            </a:r>
          </a:p>
        </p:txBody>
      </p:sp>
    </p:spTree>
    <p:extLst>
      <p:ext uri="{BB962C8B-B14F-4D97-AF65-F5344CB8AC3E}">
        <p14:creationId xmlns:p14="http://schemas.microsoft.com/office/powerpoint/2010/main" val="4131927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25E778-0BE3-B553-6339-1E72E2855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480" y="1366520"/>
            <a:ext cx="11623040" cy="4124960"/>
          </a:xfrm>
          <a:prstGeom prst="rect">
            <a:avLst/>
          </a:prstGeom>
        </p:spPr>
      </p:pic>
    </p:spTree>
    <p:extLst>
      <p:ext uri="{BB962C8B-B14F-4D97-AF65-F5344CB8AC3E}">
        <p14:creationId xmlns:p14="http://schemas.microsoft.com/office/powerpoint/2010/main" val="4136695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707425-C30F-B76C-DBF5-AD70116058BB}"/>
              </a:ext>
            </a:extLst>
          </p:cNvPr>
          <p:cNvSpPr>
            <a:spLocks noChangeArrowheads="1"/>
          </p:cNvSpPr>
          <p:nvPr/>
        </p:nvSpPr>
        <p:spPr bwMode="auto">
          <a:xfrm>
            <a:off x="268357" y="224883"/>
            <a:ext cx="1144976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endParaRPr lang="en-IN" sz="2800" b="1" dirty="0"/>
          </a:p>
          <a:p>
            <a:pPr algn="ctr"/>
            <a:r>
              <a:rPr lang="en-IN" sz="2800" b="1" dirty="0">
                <a:latin typeface="Times New Roman" panose="02020603050405020304" pitchFamily="18" charset="0"/>
                <a:cs typeface="Times New Roman" panose="02020603050405020304" pitchFamily="18" charset="0"/>
              </a:rPr>
              <a:t>REFERENCES</a:t>
            </a:r>
          </a:p>
          <a:p>
            <a:pPr algn="ctr"/>
            <a:endParaRPr lang="en-IN" sz="2800" b="1" dirty="0"/>
          </a:p>
          <a:p>
            <a:pPr marL="457200" indent="-4572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Aurélien </a:t>
            </a:r>
            <a:r>
              <a:rPr lang="en-IN" sz="2000" dirty="0" err="1">
                <a:latin typeface="Times New Roman" panose="02020603050405020304" pitchFamily="18" charset="0"/>
                <a:cs typeface="Times New Roman" panose="02020603050405020304" pitchFamily="18" charset="0"/>
              </a:rPr>
              <a:t>Géron</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Hands-On Machine Learning with Scikit-Learn, </a:t>
            </a:r>
            <a:r>
              <a:rPr lang="en-IN" sz="2000" i="1" dirty="0" err="1">
                <a:latin typeface="Times New Roman" panose="02020603050405020304" pitchFamily="18" charset="0"/>
                <a:cs typeface="Times New Roman" panose="02020603050405020304" pitchFamily="18" charset="0"/>
              </a:rPr>
              <a:t>Keras</a:t>
            </a:r>
            <a:r>
              <a:rPr lang="en-IN" sz="2000" i="1" dirty="0">
                <a:latin typeface="Times New Roman" panose="02020603050405020304" pitchFamily="18" charset="0"/>
                <a:cs typeface="Times New Roman" panose="02020603050405020304" pitchFamily="18" charset="0"/>
              </a:rPr>
              <a:t>, and TensorFlow</a:t>
            </a:r>
            <a:r>
              <a:rPr lang="en-IN" sz="2000" dirty="0">
                <a:latin typeface="Times New Roman" panose="02020603050405020304" pitchFamily="18" charset="0"/>
                <a:cs typeface="Times New Roman" panose="02020603050405020304" pitchFamily="18" charset="0"/>
              </a:rPr>
              <a:t>, O’Reilly Media, 2019. </a:t>
            </a:r>
          </a:p>
          <a:p>
            <a:pPr marL="457200" indent="-4572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Jiawei Han, Micheline Kamber, and Jian Pei, </a:t>
            </a:r>
            <a:r>
              <a:rPr lang="en-IN" sz="2000" i="1" dirty="0">
                <a:latin typeface="Times New Roman" panose="02020603050405020304" pitchFamily="18" charset="0"/>
                <a:cs typeface="Times New Roman" panose="02020603050405020304" pitchFamily="18" charset="0"/>
              </a:rPr>
              <a:t>Data Mining: Concepts and Techniques</a:t>
            </a:r>
            <a:r>
              <a:rPr lang="en-IN" sz="2000" dirty="0">
                <a:latin typeface="Times New Roman" panose="02020603050405020304" pitchFamily="18" charset="0"/>
                <a:cs typeface="Times New Roman" panose="02020603050405020304" pitchFamily="18" charset="0"/>
              </a:rPr>
              <a:t>, Morgan Kaufmann Publishers, 2011. </a:t>
            </a:r>
          </a:p>
          <a:p>
            <a:pPr marL="457200" indent="-4572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Trevor Hastie, Robert </a:t>
            </a:r>
            <a:r>
              <a:rPr lang="en-IN" sz="2000" dirty="0" err="1">
                <a:latin typeface="Times New Roman" panose="02020603050405020304" pitchFamily="18" charset="0"/>
                <a:cs typeface="Times New Roman" panose="02020603050405020304" pitchFamily="18" charset="0"/>
              </a:rPr>
              <a:t>Tibshirani</a:t>
            </a:r>
            <a:r>
              <a:rPr lang="en-IN" sz="2000" dirty="0">
                <a:latin typeface="Times New Roman" panose="02020603050405020304" pitchFamily="18" charset="0"/>
                <a:cs typeface="Times New Roman" panose="02020603050405020304" pitchFamily="18" charset="0"/>
              </a:rPr>
              <a:t>, and Jerome Friedman, </a:t>
            </a:r>
            <a:r>
              <a:rPr lang="en-IN" sz="2000" i="1" dirty="0">
                <a:latin typeface="Times New Roman" panose="02020603050405020304" pitchFamily="18" charset="0"/>
                <a:cs typeface="Times New Roman" panose="02020603050405020304" pitchFamily="18" charset="0"/>
              </a:rPr>
              <a:t>The Elements of Statistical Learning</a:t>
            </a:r>
            <a:r>
              <a:rPr lang="en-IN" sz="2000" dirty="0">
                <a:latin typeface="Times New Roman" panose="02020603050405020304" pitchFamily="18" charset="0"/>
                <a:cs typeface="Times New Roman" panose="02020603050405020304" pitchFamily="18" charset="0"/>
              </a:rPr>
              <a:t>, Springer, 2009. </a:t>
            </a:r>
          </a:p>
          <a:p>
            <a:pPr marL="457200" indent="-4572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Douglas C. Montgomery, Cheryl L. Jennings, and Murat </a:t>
            </a:r>
            <a:r>
              <a:rPr lang="en-IN" sz="2000" dirty="0" err="1">
                <a:latin typeface="Times New Roman" panose="02020603050405020304" pitchFamily="18" charset="0"/>
                <a:cs typeface="Times New Roman" panose="02020603050405020304" pitchFamily="18" charset="0"/>
              </a:rPr>
              <a:t>Kulahci</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Introduction to Time Series Analysis and Forecasting</a:t>
            </a:r>
            <a:r>
              <a:rPr lang="en-IN" sz="2000" dirty="0">
                <a:latin typeface="Times New Roman" panose="02020603050405020304" pitchFamily="18" charset="0"/>
                <a:cs typeface="Times New Roman" panose="02020603050405020304" pitchFamily="18" charset="0"/>
              </a:rPr>
              <a:t>, Wiley Publications, 2015. </a:t>
            </a:r>
          </a:p>
          <a:p>
            <a:pPr marL="457200" indent="-4572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Ian Goodfellow, Yoshua Bengio, and Aaron Courville, </a:t>
            </a:r>
            <a:r>
              <a:rPr lang="en-IN" sz="2000" i="1" dirty="0">
                <a:latin typeface="Times New Roman" panose="02020603050405020304" pitchFamily="18" charset="0"/>
                <a:cs typeface="Times New Roman" panose="02020603050405020304" pitchFamily="18" charset="0"/>
              </a:rPr>
              <a:t>Deep Learning</a:t>
            </a:r>
            <a:r>
              <a:rPr lang="en-IN" sz="2000" dirty="0">
                <a:latin typeface="Times New Roman" panose="02020603050405020304" pitchFamily="18" charset="0"/>
                <a:cs typeface="Times New Roman" panose="02020603050405020304" pitchFamily="18" charset="0"/>
              </a:rPr>
              <a:t>, MIT Press, 2016.</a:t>
            </a:r>
          </a:p>
          <a:p>
            <a:pPr marL="457200" indent="-457200">
              <a:buFont typeface="Arial" panose="020B0604020202020204" pitchFamily="34" charset="0"/>
              <a:buChar char="•"/>
            </a:pPr>
            <a:endParaRPr lang="en-IN" sz="2800" b="1" dirty="0"/>
          </a:p>
          <a:p>
            <a:pPr marL="457200" indent="-457200">
              <a:buFont typeface="Arial" panose="020B0604020202020204" pitchFamily="34" charset="0"/>
              <a:buChar char="•"/>
            </a:pPr>
            <a:endParaRPr lang="en-IN" sz="2800" dirty="0"/>
          </a:p>
        </p:txBody>
      </p:sp>
    </p:spTree>
    <p:extLst>
      <p:ext uri="{BB962C8B-B14F-4D97-AF65-F5344CB8AC3E}">
        <p14:creationId xmlns:p14="http://schemas.microsoft.com/office/powerpoint/2010/main" val="782701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7DA2B2-A26B-7051-E485-25607398C007}"/>
              </a:ext>
            </a:extLst>
          </p:cNvPr>
          <p:cNvSpPr txBox="1"/>
          <p:nvPr/>
        </p:nvSpPr>
        <p:spPr>
          <a:xfrm>
            <a:off x="89452" y="412330"/>
            <a:ext cx="11857382" cy="3293209"/>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CONCLUSION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successfully developed a machine learning model to predict Units Sold in a retail environment.</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The implementation of advanced algorithms like Random Forest Regressor improved prediction accuracy compared to traditional methods.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Additionally, the integration of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dashboard enables easy visualization and real-time predictions.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Overall, the system helps businesses make better decisions in inventory management, demand planning, and sales strategy, demonstrating the practical value of machine learning in retail analytics.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1688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8F137-945B-2066-AABD-271044C04A4A}"/>
              </a:ext>
            </a:extLst>
          </p:cNvPr>
          <p:cNvSpPr txBox="1"/>
          <p:nvPr/>
        </p:nvSpPr>
        <p:spPr>
          <a:xfrm>
            <a:off x="77856" y="3003251"/>
            <a:ext cx="12036287"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36776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TotalTime>
  <Words>1137</Words>
  <Application>Microsoft Office PowerPoint</Application>
  <PresentationFormat>Widescreen</PresentationFormat>
  <Paragraphs>170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Annai college of engineering and technology  Department of computer science and engineering  RETAIL SALES FORECASTING TO ENHANCE BUSINESS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nikkas</dc:creator>
  <cp:lastModifiedBy>mohamed nikkas</cp:lastModifiedBy>
  <cp:revision>3</cp:revision>
  <dcterms:created xsi:type="dcterms:W3CDTF">2026-03-08T18:47:52Z</dcterms:created>
  <dcterms:modified xsi:type="dcterms:W3CDTF">2026-05-15T05:21:17Z</dcterms:modified>
</cp:coreProperties>
</file>